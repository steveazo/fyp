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g_template_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FINAL YEAR PROJECT PRESENTATION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77240"/>
            <a:ext cx="9738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Resource-Constrained Evaluation of Lightweight
Concept Drift Detectors in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Stephen Kwaku Azongo
ID: 11027858
Department of Computer Science, University of Ghana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SUPERVISOR: KOFI SARPONG ADU-MANU
8TH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OUTLINE OF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1. Introduction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2. Aims and Objectives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3. Related Work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4. Proposed Solution (Methodology)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5. Key Results</a:t>
            </a:r>
          </a:p>
          <a:p>
            <a:pPr>
              <a:spcAft>
                <a:spcPts val="1200"/>
              </a:spcAft>
              <a:defRPr sz="2300">
                <a:solidFill>
                  <a:srgbClr val="15375E"/>
                </a:solidFill>
                <a:latin typeface="Aptos"/>
              </a:defRPr>
            </a:pPr>
            <a:r>
              <a:t>6.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Problem context: Production machine-learning models face concept drift as P(X, y) changes over time.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Existing benchmarks usually hold deployment resources constant.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Real systems must trade off monitoring frequency, detection-window size, and reference memory.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Study focus: evaluate lightweight unsupervised detectors across financial, telecom, and industrial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Aims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5375E"/>
                </a:solidFill>
                <a:latin typeface="Aptos"/>
              </a:defRPr>
            </a:pPr>
            <a:r>
              <a:t>Aim: determine whether monitoring configuration is more consequential than detector algorithm.</a:t>
            </a:r>
          </a:p>
          <a:p>
            <a:pPr>
              <a:spcAft>
                <a:spcPts val="1200"/>
              </a:spcAft>
              <a:defRPr sz="1900">
                <a:solidFill>
                  <a:srgbClr val="15375E"/>
                </a:solidFill>
                <a:latin typeface="Aptos"/>
              </a:defRPr>
            </a:pPr>
            <a:r>
              <a:t>Compare KS, PSI, and Wasserstein detectors over 8,100 experimental runs.</a:t>
            </a:r>
          </a:p>
          <a:p>
            <a:pPr>
              <a:spcAft>
                <a:spcPts val="1200"/>
              </a:spcAft>
              <a:defRPr sz="1900">
                <a:solidFill>
                  <a:srgbClr val="15375E"/>
                </a:solidFill>
                <a:latin typeface="Aptos"/>
              </a:defRPr>
            </a:pPr>
            <a:r>
              <a:t>Quantify the effects of monitoring frequency, window size, and reference size.</a:t>
            </a:r>
          </a:p>
          <a:p>
            <a:pPr>
              <a:spcAft>
                <a:spcPts val="1200"/>
              </a:spcAft>
              <a:defRPr sz="1900">
                <a:solidFill>
                  <a:srgbClr val="15375E"/>
                </a:solidFill>
                <a:latin typeface="Aptos"/>
              </a:defRPr>
            </a:pPr>
            <a:r>
              <a:t>Evaluate sudden, gradual, and recurring drift.</a:t>
            </a:r>
          </a:p>
          <a:p>
            <a:pPr>
              <a:spcAft>
                <a:spcPts val="1200"/>
              </a:spcAft>
              <a:defRPr sz="1900">
                <a:solidFill>
                  <a:srgbClr val="15375E"/>
                </a:solidFill>
                <a:latin typeface="Aptos"/>
              </a:defRPr>
            </a:pPr>
            <a:r>
              <a:t>Assess Random Forest, Logistic Regression, and LightGBM robustness.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5375E"/>
                </a:solidFill>
                <a:latin typeface="Aptos"/>
              </a:defRPr>
            </a:pPr>
            <a:r>
              <a:t>Concept-drift foundations: drift types and adaptive monitoring.</a:t>
            </a:r>
          </a:p>
          <a:p>
            <a:pPr>
              <a:spcAft>
                <a:spcPts val="1200"/>
              </a:spcAft>
              <a:defRPr sz="2000">
                <a:solidFill>
                  <a:srgbClr val="15375E"/>
                </a:solidFill>
                <a:latin typeface="Aptos"/>
              </a:defRPr>
            </a:pPr>
            <a:r>
              <a:t>Empirical benchmarks compare detectors but rarely model deployment constraints as primary factors.</a:t>
            </a:r>
          </a:p>
          <a:p>
            <a:pPr>
              <a:spcAft>
                <a:spcPts val="1200"/>
              </a:spcAft>
              <a:defRPr sz="2000">
                <a:solidFill>
                  <a:srgbClr val="15375E"/>
                </a:solidFill>
                <a:latin typeface="Aptos"/>
              </a:defRPr>
            </a:pPr>
            <a:r>
              <a:t>KS, PSI, and Wasserstein provide practical, label-free, lightweight monitoring.</a:t>
            </a:r>
          </a:p>
          <a:p>
            <a:pPr>
              <a:spcAft>
                <a:spcPts val="1200"/>
              </a:spcAft>
              <a:defRPr sz="2000">
                <a:solidFill>
                  <a:srgbClr val="15375E"/>
                </a:solidFill>
                <a:latin typeface="Aptos"/>
              </a:defRPr>
            </a:pPr>
            <a:r>
              <a:t>Research gap: no systematic ranking of resource constraints by quantitative impact on detection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Proposed Solution (Methodology)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5375E"/>
                </a:solidFill>
                <a:latin typeface="Aptos"/>
              </a:defRPr>
            </a:pPr>
            <a:r>
              <a:t>Datasets: UCI Credit Default, IBM Telco Churn, and UCI AI4I Predictive Maintenance.</a:t>
            </a:r>
          </a:p>
          <a:p>
            <a:pPr>
              <a:spcAft>
                <a:spcPts val="1200"/>
              </a:spcAft>
              <a:defRPr sz="1700">
                <a:solidFill>
                  <a:srgbClr val="15375E"/>
                </a:solidFill>
                <a:latin typeface="Aptos"/>
              </a:defRPr>
            </a:pPr>
            <a:r>
              <a:t>Drift simulation: sudden, gradual, and recurring drift after a 60/40 reference-stream split.</a:t>
            </a:r>
          </a:p>
          <a:p>
            <a:pPr>
              <a:spcAft>
                <a:spcPts val="1200"/>
              </a:spcAft>
              <a:defRPr sz="1700">
                <a:solidFill>
                  <a:srgbClr val="15375E"/>
                </a:solidFill>
                <a:latin typeface="Aptos"/>
              </a:defRPr>
            </a:pPr>
            <a:r>
              <a:t>Detectors: Kolmogorov-Smirnov, Population Stability Index, and Wasserstein distance.</a:t>
            </a:r>
          </a:p>
          <a:p>
            <a:pPr>
              <a:spcAft>
                <a:spcPts val="1200"/>
              </a:spcAft>
              <a:defRPr sz="1700">
                <a:solidFill>
                  <a:srgbClr val="15375E"/>
                </a:solidFill>
                <a:latin typeface="Aptos"/>
              </a:defRPr>
            </a:pPr>
            <a:r>
              <a:t>Constraint grid: frequency {10, 50, 100, 500, 1000}; window {50, 100, 500, 1000}; reference {100, 500, unlimited}.</a:t>
            </a:r>
          </a:p>
          <a:p>
            <a:pPr>
              <a:spcAft>
                <a:spcPts val="1200"/>
              </a:spcAft>
              <a:defRPr sz="1700">
                <a:solidFill>
                  <a:srgbClr val="15375E"/>
                </a:solidFill>
                <a:latin typeface="Aptos"/>
              </a:defRPr>
            </a:pPr>
            <a:r>
              <a:t>Analysis: Kruskal-Wallis, Mann-Whitney U, Bonferroni correction, Spearman correlation, and effect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5375E"/>
                </a:solidFill>
                <a:latin typeface="Aptos"/>
              </a:defRPr>
            </a:pPr>
            <a:r>
              <a:t>Constraint configuration produced a 37-fold range in detection delay.</a:t>
            </a:r>
          </a:p>
          <a:p>
            <a:pPr>
              <a:spcAft>
                <a:spcPts val="1200"/>
              </a:spcAft>
              <a:defRPr sz="1800">
                <a:solidFill>
                  <a:srgbClr val="15375E"/>
                </a:solidFill>
                <a:latin typeface="Aptos"/>
              </a:defRPr>
            </a:pPr>
            <a:r>
              <a:t>Gradual drift was significantly harder to detect than sudden or recurring drift (r ≈ 0.30).</a:t>
            </a:r>
          </a:p>
          <a:p>
            <a:pPr>
              <a:spcAft>
                <a:spcPts val="1200"/>
              </a:spcAft>
              <a:defRPr sz="1800">
                <a:solidFill>
                  <a:srgbClr val="15375E"/>
                </a:solidFill>
                <a:latin typeface="Aptos"/>
              </a:defRPr>
            </a:pPr>
            <a:r>
              <a:t>Detection-window size had the strongest individual impact; monitoring frequency was second.</a:t>
            </a:r>
          </a:p>
          <a:p>
            <a:pPr>
              <a:spcAft>
                <a:spcPts val="1200"/>
              </a:spcAft>
              <a:defRPr sz="1800">
                <a:solidFill>
                  <a:srgbClr val="15375E"/>
                </a:solidFill>
                <a:latin typeface="Aptos"/>
              </a:defRPr>
            </a:pPr>
            <a:r>
              <a:t>A 500-sample reference window performed comparably to unlimited reference in most settings.</a:t>
            </a:r>
          </a:p>
          <a:p>
            <a:pPr>
              <a:spcAft>
                <a:spcPts val="1200"/>
              </a:spcAft>
              <a:defRPr sz="1800">
                <a:solidFill>
                  <a:srgbClr val="15375E"/>
                </a:solidFill>
                <a:latin typeface="Aptos"/>
              </a:defRPr>
            </a:pPr>
            <a:r>
              <a:t>Random Forest degraded less than LightGBM (r = 0.383) and Logistic Regression (r = 0.185).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5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Main conclusion: configuration matters more than algorithm for practical drift-detection performance.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1. Configure the monitoring regime first.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2. Account for drift type, especially gradual drift.</a:t>
            </a:r>
          </a:p>
          <a:p>
            <a:pPr>
              <a:spcAft>
                <a:spcPts val="1200"/>
              </a:spcAft>
              <a:defRPr sz="2100">
                <a:solidFill>
                  <a:srgbClr val="15375E"/>
                </a:solidFill>
                <a:latin typeface="Aptos"/>
              </a:defRPr>
            </a:pPr>
            <a:r>
              <a:t>3. Then optimize detector and predictive-model selection.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516636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5375E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